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4"/>
  </p:sldMasterIdLst>
  <p:sldIdLst>
    <p:sldId id="256" r:id="rId5"/>
    <p:sldId id="257" r:id="rId6"/>
    <p:sldId id="258" r:id="rId7"/>
    <p:sldId id="259" r:id="rId8"/>
    <p:sldId id="260" r:id="rId9"/>
    <p:sldId id="263" r:id="rId10"/>
    <p:sldId id="264" r:id="rId11"/>
    <p:sldId id="265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F625AC2-1049-42AD-9C38-42525426444F}">
          <p14:sldIdLst>
            <p14:sldId id="256"/>
            <p14:sldId id="257"/>
            <p14:sldId id="258"/>
            <p14:sldId id="259"/>
            <p14:sldId id="260"/>
            <p14:sldId id="263"/>
            <p14:sldId id="264"/>
            <p14:sldId id="265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udlowCode/tast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F1C64-FECF-420B-9D3F-3BEB99E055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Hashing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4518E6-0F73-45A5-B10C-B6F1395721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…or How your passwords are actually stored</a:t>
            </a:r>
          </a:p>
        </p:txBody>
      </p:sp>
    </p:spTree>
    <p:extLst>
      <p:ext uri="{BB962C8B-B14F-4D97-AF65-F5344CB8AC3E}">
        <p14:creationId xmlns:p14="http://schemas.microsoft.com/office/powerpoint/2010/main" val="222125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DBC89-6925-4CC0-8E97-32BB2F57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hash function?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F57F-4CA9-47E1-8EAD-CA6CF163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2266" y="2638044"/>
            <a:ext cx="7729728" cy="3101983"/>
          </a:xfrm>
        </p:spPr>
        <p:txBody>
          <a:bodyPr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GB" sz="2400" dirty="0"/>
              <a:t>A hash function takes an input and does some maths and gives a nearly unique output.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It is </a:t>
            </a:r>
            <a:r>
              <a:rPr lang="en-GB" sz="2400" b="1" dirty="0"/>
              <a:t>one way</a:t>
            </a:r>
            <a:r>
              <a:rPr lang="en-GB" sz="2400" dirty="0"/>
              <a:t>, i.e. you can’t run it in reverse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If the output is an 8-digit hexadecimal string (like 703a4f6c) it gives 16*16*16*16*16*16*16*16 (4’294’967’296) possible outputs</a:t>
            </a:r>
          </a:p>
          <a:p>
            <a:pPr>
              <a:spcAft>
                <a:spcPts val="600"/>
              </a:spcAft>
            </a:pPr>
            <a:r>
              <a:rPr lang="en-GB" sz="2400" dirty="0"/>
              <a:t>So eventually the output from 2 different inputs would be the same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FF2BE5-CA9A-49FC-837B-924D0337C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3800"/>
            <a:ext cx="3101983" cy="310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31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BD80-0276-42DE-AFBF-BB54C78B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Some hash functions…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C2D9-A1DA-4E16-8329-C4B9C39BF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MD5</a:t>
            </a:r>
          </a:p>
          <a:p>
            <a:r>
              <a:rPr lang="en-GB" dirty="0"/>
              <a:t>SHA-1</a:t>
            </a:r>
          </a:p>
          <a:p>
            <a:r>
              <a:rPr lang="en-GB" dirty="0"/>
              <a:t>SHA-2</a:t>
            </a:r>
          </a:p>
          <a:p>
            <a:r>
              <a:rPr lang="en-GB" dirty="0"/>
              <a:t>NTLM</a:t>
            </a:r>
          </a:p>
          <a:p>
            <a:r>
              <a:rPr lang="en-GB" dirty="0"/>
              <a:t>LANMAN</a:t>
            </a:r>
          </a:p>
          <a:p>
            <a:r>
              <a:rPr lang="en-GB" dirty="0"/>
              <a:t>SHA256</a:t>
            </a:r>
          </a:p>
          <a:p>
            <a:r>
              <a:rPr lang="en-GB" dirty="0"/>
              <a:t>SHA512</a:t>
            </a:r>
          </a:p>
          <a:p>
            <a:r>
              <a:rPr lang="en-GB" dirty="0"/>
              <a:t>At time of writing, you should probably use bcrypt</a:t>
            </a:r>
          </a:p>
          <a:p>
            <a:pPr lvl="1"/>
            <a:r>
              <a:rPr lang="en-GB" dirty="0"/>
              <a:t>Hashing functions go out of date. Why?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3AD28F-D651-41D6-B5CE-9783A38D3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2548466"/>
            <a:ext cx="3101983" cy="310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02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852C9-74CC-4EA9-B697-08089C09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Collisions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89467-51C7-43AC-8DA1-206C0FC60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When 2 inputs have same output from hash functions.</a:t>
            </a:r>
          </a:p>
          <a:p>
            <a:r>
              <a:rPr lang="en-GB" sz="2400" strike="sngStrike" dirty="0"/>
              <a:t>Bad</a:t>
            </a:r>
          </a:p>
          <a:p>
            <a:pPr lvl="1"/>
            <a:r>
              <a:rPr lang="en-GB" sz="2200" strike="sngStrike" dirty="0"/>
              <a:t>Mitigation?</a:t>
            </a:r>
          </a:p>
          <a:p>
            <a:pPr lvl="2"/>
            <a:r>
              <a:rPr lang="en-GB" sz="2200" strike="sngStrike" dirty="0"/>
              <a:t>Linear probing or chaining can lead to linear search situation</a:t>
            </a:r>
          </a:p>
          <a:p>
            <a:r>
              <a:rPr lang="en-GB" sz="2400" strike="sngStrike" dirty="0"/>
              <a:t>Happens less in SHA512 than SHA256</a:t>
            </a:r>
          </a:p>
          <a:p>
            <a:pPr lvl="1"/>
            <a:r>
              <a:rPr lang="en-GB" sz="2000" strike="sngStrike" dirty="0"/>
              <a:t>No surprises there</a:t>
            </a:r>
          </a:p>
        </p:txBody>
      </p:sp>
    </p:spTree>
    <p:extLst>
      <p:ext uri="{BB962C8B-B14F-4D97-AF65-F5344CB8AC3E}">
        <p14:creationId xmlns:p14="http://schemas.microsoft.com/office/powerpoint/2010/main" val="159833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6DD2-0893-4303-A17E-6CC427CB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Hash… how?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3A78-2268-4D8A-964B-E8B193E60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2066545"/>
          </a:xfrm>
        </p:spPr>
        <p:txBody>
          <a:bodyPr>
            <a:normAutofit/>
          </a:bodyPr>
          <a:lstStyle/>
          <a:p>
            <a:r>
              <a:rPr lang="en-GB" sz="2400" dirty="0"/>
              <a:t>Look it up!</a:t>
            </a:r>
          </a:p>
          <a:p>
            <a:r>
              <a:rPr lang="en-GB" sz="2400" dirty="0"/>
              <a:t>It’s maths that’s hard to reverse</a:t>
            </a:r>
          </a:p>
          <a:p>
            <a:r>
              <a:rPr lang="en-GB" sz="2400" dirty="0"/>
              <a:t>It may use powers and big prime numbers and stuff</a:t>
            </a:r>
          </a:p>
          <a:p>
            <a:r>
              <a:rPr lang="en-GB" sz="2400" dirty="0"/>
              <a:t>We can write simplified ones using modulo</a:t>
            </a:r>
          </a:p>
          <a:p>
            <a:endParaRPr lang="en-GB" sz="24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61111C-5F3D-4FB1-ACEB-8C68327D7D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140337"/>
              </p:ext>
            </p:extLst>
          </p:nvPr>
        </p:nvGraphicFramePr>
        <p:xfrm>
          <a:off x="4161367" y="5045583"/>
          <a:ext cx="22479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Worksheet" r:id="rId3" imgW="2248001" imgH="771525" progId="Excel.Sheet.12">
                  <p:embed/>
                </p:oleObj>
              </mc:Choice>
              <mc:Fallback>
                <p:oleObj name="Worksheet" r:id="rId3" imgW="2248001" imgH="77152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61367" y="5045583"/>
                        <a:ext cx="22479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43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22E2-9D67-4649-93D0-1FB2DEF3C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Crypto Hash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5C00C-DA7B-45BC-B9BA-C3DD64F92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9431" y="2153412"/>
            <a:ext cx="6053137" cy="43905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F49A0-306E-4CEA-9D56-3B156C4B4BCE}"/>
              </a:ext>
            </a:extLst>
          </p:cNvPr>
          <p:cNvSpPr txBox="1"/>
          <p:nvPr/>
        </p:nvSpPr>
        <p:spPr>
          <a:xfrm>
            <a:off x="9122568" y="3684657"/>
            <a:ext cx="32874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 how one char changing produces a totally different output!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7A5A1-6497-4E22-9A34-10B3B5BD35AE}"/>
              </a:ext>
            </a:extLst>
          </p:cNvPr>
          <p:cNvSpPr txBox="1"/>
          <p:nvPr/>
        </p:nvSpPr>
        <p:spPr>
          <a:xfrm>
            <a:off x="9122568" y="4969978"/>
            <a:ext cx="24816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why you get hashes with files you download: you know if a single bit has been corrupted.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5439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5D14B-E85C-4700-9AFD-5B81B7676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Hashing for Hash tables (dictionaries)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8663FF-C60F-42DE-B704-782A524CB3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1873" y="2638425"/>
            <a:ext cx="4048254" cy="31019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4C6AF5-166E-4AE7-A716-BC839B338601}"/>
              </a:ext>
            </a:extLst>
          </p:cNvPr>
          <p:cNvSpPr txBox="1"/>
          <p:nvPr/>
        </p:nvSpPr>
        <p:spPr>
          <a:xfrm>
            <a:off x="8120127" y="2638425"/>
            <a:ext cx="29397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Hash tells you which RAM location to look in.</a:t>
            </a:r>
          </a:p>
          <a:p>
            <a:endParaRPr lang="en-GB" dirty="0"/>
          </a:p>
          <a:p>
            <a:r>
              <a:rPr lang="en-GB" dirty="0"/>
              <a:t>Much faster than iterating through a huge list or array.</a:t>
            </a:r>
          </a:p>
          <a:p>
            <a:endParaRPr lang="en-GB" dirty="0"/>
          </a:p>
          <a:p>
            <a:r>
              <a:rPr lang="en-GB" dirty="0"/>
              <a:t>This is why dictionaries are often quicker than arrays!</a:t>
            </a:r>
          </a:p>
          <a:p>
            <a:endParaRPr lang="en-GB" dirty="0"/>
          </a:p>
          <a:p>
            <a:r>
              <a:rPr lang="en-GB" dirty="0"/>
              <a:t>Any problems in diagram?</a:t>
            </a:r>
          </a:p>
        </p:txBody>
      </p:sp>
    </p:spTree>
    <p:extLst>
      <p:ext uri="{BB962C8B-B14F-4D97-AF65-F5344CB8AC3E}">
        <p14:creationId xmlns:p14="http://schemas.microsoft.com/office/powerpoint/2010/main" val="335261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56E57-5733-46A0-8125-493C56CC2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BB373-F9E5-4CBA-A275-0A75D2853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898223"/>
          </a:xfrm>
        </p:spPr>
        <p:txBody>
          <a:bodyPr>
            <a:normAutofit/>
          </a:bodyPr>
          <a:lstStyle/>
          <a:p>
            <a:r>
              <a:rPr lang="en-GB" dirty="0"/>
              <a:t>In groups </a:t>
            </a:r>
          </a:p>
          <a:p>
            <a:pPr lvl="1"/>
            <a:r>
              <a:rPr lang="en-GB" dirty="0"/>
              <a:t>Lets say you were given some hash digests for 4-digit numbers to crack</a:t>
            </a:r>
          </a:p>
          <a:p>
            <a:pPr lvl="1"/>
            <a:r>
              <a:rPr lang="en-GB" dirty="0"/>
              <a:t>Discuss </a:t>
            </a:r>
            <a:r>
              <a:rPr lang="en-GB" b="1" dirty="0"/>
              <a:t>how</a:t>
            </a:r>
            <a:r>
              <a:rPr lang="en-GB" dirty="0"/>
              <a:t> you might go about doing that and write down your ideas / heuristics</a:t>
            </a:r>
          </a:p>
          <a:p>
            <a:r>
              <a:rPr lang="en-GB" dirty="0"/>
              <a:t>How about normal text passwords?</a:t>
            </a:r>
          </a:p>
          <a:p>
            <a:pPr lvl="1"/>
            <a:r>
              <a:rPr lang="en-GB" dirty="0"/>
              <a:t>6-letter passwords</a:t>
            </a:r>
          </a:p>
          <a:p>
            <a:pPr lvl="1"/>
            <a:r>
              <a:rPr lang="en-GB" dirty="0"/>
              <a:t>Longer passwords</a:t>
            </a:r>
          </a:p>
          <a:p>
            <a:pPr lvl="1"/>
            <a:endParaRPr lang="en-GB" dirty="0"/>
          </a:p>
          <a:p>
            <a:r>
              <a:rPr lang="en-GB" dirty="0"/>
              <a:t>Now crack some hashes: </a:t>
            </a:r>
            <a:r>
              <a:rPr lang="en-GB" dirty="0">
                <a:hlinkClick r:id="rId2"/>
              </a:rPr>
              <a:t>https://github.com/LudlowCode/taster</a:t>
            </a:r>
            <a:r>
              <a:rPr lang="en-GB" dirty="0"/>
              <a:t> </a:t>
            </a:r>
          </a:p>
          <a:p>
            <a:r>
              <a:rPr lang="en-GB" dirty="0"/>
              <a:t>2026 high score is</a:t>
            </a:r>
            <a:r>
              <a:rPr lang="en-GB" strike="sngStrike" dirty="0"/>
              <a:t> 4</a:t>
            </a:r>
            <a:r>
              <a:rPr lang="en-GB" dirty="0"/>
              <a:t> 5 from </a:t>
            </a:r>
            <a:r>
              <a:rPr lang="en-GB" strike="sngStrike" dirty="0"/>
              <a:t>Church Stretton </a:t>
            </a:r>
            <a:r>
              <a:rPr lang="en-GB" dirty="0"/>
              <a:t>Tenbury pupils</a:t>
            </a:r>
          </a:p>
        </p:txBody>
      </p:sp>
    </p:spTree>
    <p:extLst>
      <p:ext uri="{BB962C8B-B14F-4D97-AF65-F5344CB8AC3E}">
        <p14:creationId xmlns:p14="http://schemas.microsoft.com/office/powerpoint/2010/main" val="301042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5408-136E-456B-98CC-B85673EC8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9CE56-3A26-497D-9D21-B7504BCA0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982889"/>
          </a:xfrm>
        </p:spPr>
        <p:txBody>
          <a:bodyPr>
            <a:normAutofit fontScale="55000" lnSpcReduction="20000"/>
          </a:bodyPr>
          <a:lstStyle/>
          <a:p>
            <a:r>
              <a:rPr lang="en-GB" sz="3200" dirty="0"/>
              <a:t>Hash functions are one way</a:t>
            </a:r>
          </a:p>
          <a:p>
            <a:r>
              <a:rPr lang="en-GB" sz="3200" dirty="0"/>
              <a:t>Key </a:t>
            </a:r>
            <a:r>
              <a:rPr lang="en-GB" sz="3200" dirty="0">
                <a:sym typeface="Wingdings" panose="05000000000000000000" pitchFamily="2" charset="2"/>
              </a:rPr>
              <a:t> Value (digest)</a:t>
            </a:r>
            <a:endParaRPr lang="en-GB" sz="3200" dirty="0"/>
          </a:p>
          <a:p>
            <a:r>
              <a:rPr lang="en-GB" sz="3200" dirty="0"/>
              <a:t>3 major uses:</a:t>
            </a:r>
          </a:p>
          <a:p>
            <a:pPr lvl="1"/>
            <a:r>
              <a:rPr lang="en-GB" sz="2800" b="1" dirty="0"/>
              <a:t>Hash tables </a:t>
            </a:r>
            <a:r>
              <a:rPr lang="en-GB" sz="2800" dirty="0"/>
              <a:t>/ dictionaries store data efficiently</a:t>
            </a:r>
          </a:p>
          <a:p>
            <a:pPr lvl="1"/>
            <a:r>
              <a:rPr lang="en-GB" sz="2800" b="1" dirty="0"/>
              <a:t>Cryptographic hash functions</a:t>
            </a:r>
          </a:p>
          <a:p>
            <a:pPr lvl="2"/>
            <a:r>
              <a:rPr lang="en-GB" sz="2800" b="1" dirty="0"/>
              <a:t>Password</a:t>
            </a:r>
            <a:r>
              <a:rPr lang="en-GB" sz="2800" dirty="0"/>
              <a:t> storage and checking</a:t>
            </a:r>
          </a:p>
          <a:p>
            <a:pPr lvl="2"/>
            <a:r>
              <a:rPr lang="en-GB" sz="2800" dirty="0"/>
              <a:t>Checking data hasn’t been </a:t>
            </a:r>
            <a:r>
              <a:rPr lang="en-GB" sz="2800" b="1" dirty="0"/>
              <a:t>corrupted</a:t>
            </a:r>
          </a:p>
          <a:p>
            <a:pPr lvl="2"/>
            <a:r>
              <a:rPr lang="en-GB" sz="2800" b="1" dirty="0"/>
              <a:t>Cryptocurrency</a:t>
            </a:r>
            <a:r>
              <a:rPr lang="en-GB" sz="2800" dirty="0"/>
              <a:t> mining (</a:t>
            </a:r>
            <a:r>
              <a:rPr lang="en-GB" sz="2800" dirty="0" err="1"/>
              <a:t>PoW</a:t>
            </a:r>
            <a:r>
              <a:rPr lang="en-GB" sz="2800" dirty="0"/>
              <a:t>)</a:t>
            </a:r>
          </a:p>
          <a:p>
            <a:r>
              <a:rPr lang="en-GB" sz="3000" b="1" dirty="0"/>
              <a:t>Cracking</a:t>
            </a:r>
            <a:r>
              <a:rPr lang="en-GB" sz="3000" dirty="0"/>
              <a:t> hashes takes a lot of compute for </a:t>
            </a:r>
            <a:r>
              <a:rPr lang="en-GB" sz="3000" b="1" dirty="0"/>
              <a:t>brute force</a:t>
            </a:r>
          </a:p>
          <a:p>
            <a:pPr lvl="1"/>
            <a:r>
              <a:rPr lang="en-GB" sz="2800" b="1" dirty="0"/>
              <a:t>Heuristics</a:t>
            </a:r>
            <a:r>
              <a:rPr lang="en-GB" sz="2800" dirty="0"/>
              <a:t> help</a:t>
            </a:r>
          </a:p>
          <a:p>
            <a:pPr lvl="1"/>
            <a:r>
              <a:rPr lang="en-GB" sz="2800" b="1" dirty="0"/>
              <a:t>Dictionary attacks</a:t>
            </a:r>
          </a:p>
          <a:p>
            <a:pPr lvl="1"/>
            <a:r>
              <a:rPr lang="en-GB" sz="2800" b="1" dirty="0"/>
              <a:t>Social engineering</a:t>
            </a:r>
          </a:p>
          <a:p>
            <a:pPr lvl="1"/>
            <a:endParaRPr lang="en-GB" sz="2800" dirty="0"/>
          </a:p>
          <a:p>
            <a:pPr lvl="2"/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2491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3A1C5FFBB7E4E95EC1B26D5116F20" ma:contentTypeVersion="9" ma:contentTypeDescription="Create a new document." ma:contentTypeScope="" ma:versionID="a43bb81a1f145731937a0af310cc465b">
  <xsd:schema xmlns:xsd="http://www.w3.org/2001/XMLSchema" xmlns:xs="http://www.w3.org/2001/XMLSchema" xmlns:p="http://schemas.microsoft.com/office/2006/metadata/properties" xmlns:ns3="f0e36129-6cc5-40d3-9e71-9f0d6fe3d16e" xmlns:ns4="13326e12-defd-49a1-8fd7-d047e9180046" targetNamespace="http://schemas.microsoft.com/office/2006/metadata/properties" ma:root="true" ma:fieldsID="5cffc7b96fa01b3ad3dbb00dc343c956" ns3:_="" ns4:_="">
    <xsd:import namespace="f0e36129-6cc5-40d3-9e71-9f0d6fe3d16e"/>
    <xsd:import namespace="13326e12-defd-49a1-8fd7-d047e918004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36129-6cc5-40d3-9e71-9f0d6fe3d1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326e12-defd-49a1-8fd7-d047e918004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C28293-7F68-43B3-B8ED-FE492E3246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36129-6cc5-40d3-9e71-9f0d6fe3d16e"/>
    <ds:schemaRef ds:uri="13326e12-defd-49a1-8fd7-d047e91800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C5E9AC-9210-4485-9072-22BE2C499AE0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13326e12-defd-49a1-8fd7-d047e9180046"/>
    <ds:schemaRef ds:uri="http://schemas.microsoft.com/office/2006/documentManagement/types"/>
    <ds:schemaRef ds:uri="f0e36129-6cc5-40d3-9e71-9f0d6fe3d16e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BB88D2C-6096-4F3C-B43D-5B146606A1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611</TotalTime>
  <Words>374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Gill Sans MT</vt:lpstr>
      <vt:lpstr>Parcel</vt:lpstr>
      <vt:lpstr>Microsoft Excel Worksheet</vt:lpstr>
      <vt:lpstr>Hashing</vt:lpstr>
      <vt:lpstr>What is a hash function?</vt:lpstr>
      <vt:lpstr>Some hash functions…</vt:lpstr>
      <vt:lpstr>Collisions</vt:lpstr>
      <vt:lpstr>Hash… how?</vt:lpstr>
      <vt:lpstr>Crypto Hash function</vt:lpstr>
      <vt:lpstr>Hashing for Hash tables (dictionaries)</vt:lpstr>
      <vt:lpstr>Cracking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hASHING</dc:title>
  <dc:creator>Dave Edwards</dc:creator>
  <cp:lastModifiedBy>Dave Edwards</cp:lastModifiedBy>
  <cp:revision>17</cp:revision>
  <dcterms:created xsi:type="dcterms:W3CDTF">2019-11-15T13:36:32Z</dcterms:created>
  <dcterms:modified xsi:type="dcterms:W3CDTF">2026-07-03T13:54:11Z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0x01010072B3A1C5FFBB7E4E95EC1B26D5116F20</vt:lpwstr>
  </property>
</Properties>
</file>